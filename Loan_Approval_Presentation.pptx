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7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882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8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F2-493A-A517-B5043BF3088D}"/>
              </c:ext>
            </c:extLst>
          </c:dPt>
          <c:dPt>
            <c:idx val="1"/>
            <c:invertIfNegative val="0"/>
            <c:bubble3D val="0"/>
            <c:spPr>
              <a:solidFill>
                <a:srgbClr val="E88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F2-493A-A517-B5043BF3088D}"/>
              </c:ext>
            </c:extLst>
          </c:dPt>
          <c:dPt>
            <c:idx val="2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F2-493A-A517-B5043BF3088D}"/>
              </c:ext>
            </c:extLst>
          </c:dPt>
          <c:dPt>
            <c:idx val="3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F2-493A-A517-B5043BF3088D}"/>
              </c:ext>
            </c:extLst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F2-493A-A517-B5043BF3088D}"/>
              </c:ext>
            </c:extLst>
          </c:dPt>
          <c:dPt>
            <c:idx val="5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F2-493A-A517-B5043BF308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Logistic Regression</c:v>
                </c:pt>
                <c:pt idx="1">
                  <c:v>SVM (Linear)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Naive Bayes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80.599999999999994</c:v>
                </c:pt>
                <c:pt idx="1">
                  <c:v>80.599999999999994</c:v>
                </c:pt>
                <c:pt idx="2">
                  <c:v>77.400000000000006</c:v>
                </c:pt>
                <c:pt idx="3">
                  <c:v>75.8</c:v>
                </c:pt>
                <c:pt idx="4">
                  <c:v>80.599999999999994</c:v>
                </c:pt>
                <c:pt idx="5">
                  <c:v>72.599999999999994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F2-493A-A517-B5043BF308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5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28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ohamed-nofal-23688b361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ohamed-Nofal-Data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&amp; Science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820C">
              <a:alpha val="20000"/>
            </a:srgbClr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EDA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429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820C">
              <a:alpha val="20000"/>
            </a:srgbClr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820C">
              <a:alpha val="20000"/>
            </a:srgbClr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3429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820C">
              <a:alpha val="20000"/>
            </a:srgbClr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|  Visualization  |  Predictive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loan application will be approved or rejected — and understand the factors driving that decision.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Snapshot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26080"/>
            <a:ext cx="1188720" cy="82296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09928" y="2926080"/>
            <a:ext cx="1188720" cy="82296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09928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08376" y="2926080"/>
            <a:ext cx="1188720" cy="82296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08376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914400"/>
            <a:ext cx="4251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914400"/>
            <a:ext cx="4251960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Project Workflow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1645920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810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records, 13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167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77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handle missing values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779776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27340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944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transform variables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346704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33009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3511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+ 6 algorithms tested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913632"/>
            <a:ext cx="347472" cy="34747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3867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4078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insights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Cleaning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· Seaborn · Scikit-learn)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from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Applicant Income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2888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$145.8K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2888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Loan Amount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months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Loan Term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84264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84264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Credit Ratio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402336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Values —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filled with Mode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filled with Median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None found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06324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063240"/>
            <a:ext cx="425196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5661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applied to:
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Married, Self_Employed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Property_Area, Education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Dependents: '3+' → 4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Loan_Status: Y→1, N→0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2400" dirty="0"/>
          </a:p>
        </p:txBody>
      </p:sp>
      <p:pic>
        <p:nvPicPr>
          <p:cNvPr id="4" name="Image 0" descr="/mnt/user-data/uploads/177586617362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0060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Total Requests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77440" y="4892040"/>
            <a:ext cx="0" cy="164592"/>
          </a:xfrm>
          <a:prstGeom prst="line">
            <a:avLst/>
          </a:prstGeom>
          <a:noFill/>
          <a:ln w="12700">
            <a:solidFill>
              <a:srgbClr val="E882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80060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 Approval 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4892040"/>
            <a:ext cx="0" cy="164592"/>
          </a:xfrm>
          <a:prstGeom prst="line">
            <a:avLst/>
          </a:prstGeom>
          <a:noFill/>
          <a:ln w="12700">
            <a:solidFill>
              <a:srgbClr val="E882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80060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$145.8K Avg Loan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892040"/>
            <a:ext cx="0" cy="164592"/>
          </a:xfrm>
          <a:prstGeom prst="line">
            <a:avLst/>
          </a:prstGeom>
          <a:noFill/>
          <a:ln w="12700">
            <a:solidFill>
              <a:srgbClr val="E882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800600"/>
            <a:ext cx="2103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 Good Credit Ratio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78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Credit History is 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 of applicants with good credit were approved — the single strongest predictor of loan approval.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686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978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4356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had a 70.8% approval rate vs lower rates for non-graduates, especially when married.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8686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978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Semiurban Leads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14356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Semiurban areas had the highest request volume (233) AND the best approval rates among all property areas.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Dependents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with 0 dependents made up 360 requests. Approval rate peaks at 1-2 dependents and drops at 3+.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260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Gender Parity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(49.21%) vs Female (50.79%) — nearly equal distribution, but married applicants had 71.8% approval.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71616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926080"/>
            <a:ext cx="274320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3035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Income vs Loan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$5.4K with avg loan $145.8K — most applicants are taking loans within reasonable income range.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Chosen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Linear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566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566160" cy="50292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samples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566160" cy="50292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02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samples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5661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434840" y="822960"/>
            <a:ext cx="4434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822960"/>
            <a:ext cx="4434840" cy="54864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Models Comparison</a:t>
            </a:r>
            <a:endParaRPr lang="en-US" sz="15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480560" y="1417320"/>
          <a:ext cx="4297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61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Dominates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45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predictive feature — applicants with good credit history are approved at dramatically higher rates.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9552" y="1261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Model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645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with Linear Kernel achieved 80% accuracy on unseen test data — competitive with Logistic Regression and Naive Bayes.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182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Matter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566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level, marital status, and property area all significantly influence loan approval decisions.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11480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3182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Business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9552" y="3566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enables non-technical stakeholders to explore approval trends by gender, area, and more.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663440"/>
            <a:ext cx="436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418849-B143-3AF3-6639-06124FB2CDBE}"/>
              </a:ext>
            </a:extLst>
          </p:cNvPr>
          <p:cNvSpPr txBox="1"/>
          <p:nvPr/>
        </p:nvSpPr>
        <p:spPr>
          <a:xfrm>
            <a:off x="4851290" y="4689282"/>
            <a:ext cx="3537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Mohamed Nofal  </a:t>
            </a:r>
            <a:r>
              <a:rPr lang="en-US" dirty="0">
                <a:solidFill>
                  <a:schemeClr val="accent2"/>
                </a:solidFill>
                <a:hlinkClick r:id="rId3"/>
              </a:rPr>
              <a:t>Linked in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  <a:hlinkClick r:id="rId4"/>
              </a:rPr>
              <a:t>Github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509</Words>
  <Application>Microsoft Office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Analytics</dc:title>
  <dc:subject>PptxGenJS Presentation</dc:subject>
  <dc:creator>PptxGenJS</dc:creator>
  <cp:lastModifiedBy>Mohamed Nofal</cp:lastModifiedBy>
  <cp:revision>2</cp:revision>
  <dcterms:created xsi:type="dcterms:W3CDTF">2026-04-11T00:12:51Z</dcterms:created>
  <dcterms:modified xsi:type="dcterms:W3CDTF">2026-04-11T00:24:35Z</dcterms:modified>
</cp:coreProperties>
</file>